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9" r:id="rId4"/>
    <p:sldId id="270" r:id="rId5"/>
    <p:sldId id="271" r:id="rId6"/>
    <p:sldId id="276" r:id="rId7"/>
    <p:sldId id="259" r:id="rId8"/>
    <p:sldId id="272" r:id="rId9"/>
    <p:sldId id="260" r:id="rId10"/>
    <p:sldId id="261" r:id="rId11"/>
    <p:sldId id="262" r:id="rId12"/>
    <p:sldId id="263" r:id="rId13"/>
    <p:sldId id="264" r:id="rId14"/>
    <p:sldId id="275" r:id="rId15"/>
    <p:sldId id="273" r:id="rId16"/>
    <p:sldId id="265" r:id="rId17"/>
    <p:sldId id="266" r:id="rId18"/>
    <p:sldId id="274" r:id="rId19"/>
    <p:sldId id="267" r:id="rId20"/>
    <p:sldId id="268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62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13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1F91B-BB66-67C6-D891-650BCDEAE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36E6F-D987-863D-4D45-61F32F1B0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4766E-A1CB-E94E-758C-ABFE13992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8C547-8079-8B7B-4D2D-8ED38DE28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392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E4D8C">
              <a:alpha val="25000"/>
            </a:srgbClr>
          </a:solidFill>
          <a:ln w="12700">
            <a:solidFill>
              <a:srgbClr val="1E4D8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2011680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</a:rPr>
              <a:t>DATABEL TELECOM LTD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 &amp; retention recommendations for Product &amp; Commercial teams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6350">
            <a:solidFill>
              <a:srgbClr val="1E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94A3B8"/>
                </a:solidFill>
              </a:rPr>
              <a:t>Prepared by: </a:t>
            </a:r>
            <a:r>
              <a:rPr lang="en-US" sz="1000" b="1" i="1" dirty="0">
                <a:solidFill>
                  <a:srgbClr val="FFFFFF"/>
                </a:solidFill>
              </a:rPr>
              <a:t>Asiya Nizam</a:t>
            </a:r>
            <a:r>
              <a:rPr lang="en-US" sz="1000" i="1" dirty="0">
                <a:solidFill>
                  <a:srgbClr val="94A3B8"/>
                </a:solidFill>
              </a:rPr>
              <a:t>   |   Data Source: DataCamp — Databel Dataset   |   Tools: Power BI · Power Query · DAX · MS Excel</a:t>
            </a:r>
            <a:endParaRPr lang="en-US" sz="10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Business Context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Why churn matters &amp; project scope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188720"/>
            <a:ext cx="26517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Top churn drivers across all segments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5508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Deep Dive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Competition, Demographics, plans, payments &amp; service calls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35608" y="288036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435608" y="2880360"/>
            <a:ext cx="26517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72768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72768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72768" y="3749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11 actionable strategies for retention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15968" y="288036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15968" y="2880360"/>
            <a:ext cx="26517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3128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453128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53128" y="3749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Owners, timeline &amp; expected impact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1E4D8C">
              <a:alpha val="18000"/>
            </a:srgbClr>
          </a:solidFill>
          <a:ln w="12700">
            <a:solidFill>
              <a:srgbClr val="1E4D8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743200" cy="27432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64592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01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Understanding why churn matters in the telecom industry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6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1D5FA24-617C-553E-A7E6-BB5F69EE6BA1}"/>
              </a:ext>
            </a:extLst>
          </p:cNvPr>
          <p:cNvGrpSpPr/>
          <p:nvPr/>
        </p:nvGrpSpPr>
        <p:grpSpPr>
          <a:xfrm>
            <a:off x="274318" y="1120140"/>
            <a:ext cx="4069080" cy="1714500"/>
            <a:chOff x="365760" y="1097280"/>
            <a:chExt cx="4206240" cy="1600200"/>
          </a:xfrm>
        </p:grpSpPr>
        <p:sp>
          <p:nvSpPr>
            <p:cNvPr id="4" name="Shape 2"/>
            <p:cNvSpPr/>
            <p:nvPr/>
          </p:nvSpPr>
          <p:spPr>
            <a:xfrm>
              <a:off x="365760" y="1097280"/>
              <a:ext cx="4206240" cy="160020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530352" y="1261872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📉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124713" y="1324356"/>
              <a:ext cx="32918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</a:rPr>
                <a:t>Revenue Erosion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143000" y="1572768"/>
              <a:ext cx="32918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75569"/>
                  </a:solidFill>
                </a:rPr>
                <a:t>Every churned customer represents immediate lost recurring revenue and the cost of replacement acquisition.</a:t>
              </a:r>
              <a:endParaRPr lang="en-US" sz="95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7D576F0-F2CB-9AC7-D9FF-C0D87C666EE3}"/>
              </a:ext>
            </a:extLst>
          </p:cNvPr>
          <p:cNvGrpSpPr/>
          <p:nvPr/>
        </p:nvGrpSpPr>
        <p:grpSpPr>
          <a:xfrm>
            <a:off x="4526282" y="1120140"/>
            <a:ext cx="4160518" cy="1709928"/>
            <a:chOff x="4800600" y="1097280"/>
            <a:chExt cx="4206240" cy="1600200"/>
          </a:xfrm>
        </p:grpSpPr>
        <p:sp>
          <p:nvSpPr>
            <p:cNvPr id="8" name="Shape 6"/>
            <p:cNvSpPr/>
            <p:nvPr/>
          </p:nvSpPr>
          <p:spPr>
            <a:xfrm>
              <a:off x="4800600" y="1097280"/>
              <a:ext cx="4206240" cy="160020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4965192" y="1261872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💸</a:t>
              </a:r>
              <a:endParaRPr lang="en-US" sz="2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577840" y="1325427"/>
              <a:ext cx="32918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</a:rPr>
                <a:t>High Acquisition Cost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577840" y="1572768"/>
              <a:ext cx="32918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75569"/>
                  </a:solidFill>
                </a:rPr>
                <a:t>Acquiring a new customer costs 5–7× more than retaining an existing one, making churn disproportionately expensive.</a:t>
              </a:r>
              <a:endParaRPr lang="en-US" sz="95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02D9B42-C230-8FC3-035E-6A5EE0AF2A6D}"/>
              </a:ext>
            </a:extLst>
          </p:cNvPr>
          <p:cNvGrpSpPr/>
          <p:nvPr/>
        </p:nvGrpSpPr>
        <p:grpSpPr>
          <a:xfrm>
            <a:off x="274320" y="2990088"/>
            <a:ext cx="4069078" cy="1600200"/>
            <a:chOff x="274320" y="2990088"/>
            <a:chExt cx="4206240" cy="1600200"/>
          </a:xfrm>
        </p:grpSpPr>
        <p:sp>
          <p:nvSpPr>
            <p:cNvPr id="12" name="Shape 10"/>
            <p:cNvSpPr/>
            <p:nvPr/>
          </p:nvSpPr>
          <p:spPr>
            <a:xfrm>
              <a:off x="274320" y="2990088"/>
              <a:ext cx="4206240" cy="160020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463365" y="313182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📣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129490" y="3209544"/>
              <a:ext cx="32918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</a:rPr>
                <a:t>Brand &amp; Loyalty Risk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143000" y="3328416"/>
              <a:ext cx="32918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75569"/>
                  </a:solidFill>
                </a:rPr>
                <a:t>Churned customers often cite poor experience — damaging brand reputation and reducing referral potential.</a:t>
              </a:r>
              <a:endParaRPr lang="en-US" sz="95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20004D-8079-87D5-59EA-D6B1A367AAFD}"/>
              </a:ext>
            </a:extLst>
          </p:cNvPr>
          <p:cNvGrpSpPr/>
          <p:nvPr/>
        </p:nvGrpSpPr>
        <p:grpSpPr>
          <a:xfrm>
            <a:off x="4526280" y="2985516"/>
            <a:ext cx="4160520" cy="1600200"/>
            <a:chOff x="4800600" y="2852928"/>
            <a:chExt cx="4206240" cy="1600200"/>
          </a:xfrm>
        </p:grpSpPr>
        <p:sp>
          <p:nvSpPr>
            <p:cNvPr id="16" name="Shape 14"/>
            <p:cNvSpPr/>
            <p:nvPr/>
          </p:nvSpPr>
          <p:spPr>
            <a:xfrm>
              <a:off x="4800600" y="2852928"/>
              <a:ext cx="4206240" cy="160020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4965192" y="301752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🏆</a:t>
              </a:r>
              <a:endParaRPr lang="en-US" sz="2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577840" y="3076956"/>
              <a:ext cx="32918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</a:rPr>
                <a:t>Competitive Pressure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577840" y="3328416"/>
              <a:ext cx="32918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75569"/>
                  </a:solidFill>
                </a:rPr>
                <a:t>Telecoms face fierce competition. Any gap in value — pricing, devices, data — gives rivals an opening to poach customers.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4206240" cy="16276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64008" cy="162763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207008"/>
            <a:ext cx="329184" cy="25603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0700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14984" y="1188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🔍  Analyse Churn Patterns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Examine churn behaviour across 6,687 customers spanning demographics, contracts, plans, and service usage.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097280"/>
            <a:ext cx="4206240" cy="16276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097280"/>
            <a:ext cx="64008" cy="16276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207008"/>
            <a:ext cx="32918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20700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22392" y="1188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⚠️  Identify High-Risk Segments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Pinpoint the specific customer groups, behaviours, and characteristics most strongly associated with churn.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926080"/>
            <a:ext cx="4206240" cy="16276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926080"/>
            <a:ext cx="64008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" y="3035808"/>
            <a:ext cx="32918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03580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14984" y="3017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📊  Evaluate Plans &amp; Contracts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" y="34290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Assess the impact of contract types, payment methods, international plans, and add-on services on retention.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18888" y="2926080"/>
            <a:ext cx="4206240" cy="16276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2926080"/>
            <a:ext cx="64008" cy="16276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3035808"/>
            <a:ext cx="32918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03580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22392" y="3017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✅  Deliver Actionable Recommendations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4290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Translate findings into concrete, prioritised strategies that the Product &amp; Commercial teams can act 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8463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</a:rPr>
              <a:t>Audience: Product &amp; Commercial Strategy Teams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1E4D8C">
              <a:alpha val="18000"/>
            </a:srgbClr>
          </a:solidFill>
          <a:ln w="12700">
            <a:solidFill>
              <a:srgbClr val="1E4D8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743200" cy="27432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64592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02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 churn drivers identified across all customer segments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 — Key Metrics</a:t>
            </a:r>
            <a:endParaRPr lang="en-US" sz="26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7C7F1B-A3AC-DCB5-3823-55C6B9C0F4E3}"/>
              </a:ext>
            </a:extLst>
          </p:cNvPr>
          <p:cNvGrpSpPr/>
          <p:nvPr/>
        </p:nvGrpSpPr>
        <p:grpSpPr>
          <a:xfrm>
            <a:off x="365761" y="986148"/>
            <a:ext cx="1631852" cy="930224"/>
            <a:chOff x="365760" y="1143000"/>
            <a:chExt cx="1920240" cy="1463040"/>
          </a:xfrm>
        </p:grpSpPr>
        <p:sp>
          <p:nvSpPr>
            <p:cNvPr id="4" name="Shape 2"/>
            <p:cNvSpPr/>
            <p:nvPr/>
          </p:nvSpPr>
          <p:spPr>
            <a:xfrm>
              <a:off x="365760" y="1143000"/>
              <a:ext cx="192024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365760" y="1143000"/>
              <a:ext cx="1920240" cy="64008"/>
            </a:xfrm>
            <a:prstGeom prst="rect">
              <a:avLst/>
            </a:prstGeom>
            <a:solidFill>
              <a:srgbClr val="1E4D8C"/>
            </a:solidFill>
            <a:ln w="12700">
              <a:solidFill>
                <a:srgbClr val="1E4D8C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65760" y="1280160"/>
              <a:ext cx="192024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E4D8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6,687</a:t>
              </a:r>
              <a:endParaRPr lang="en-US" sz="2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65760" y="1938528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E293B"/>
                  </a:solidFill>
                </a:rPr>
                <a:t>Total Customers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65760" y="224028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94A3B8"/>
                  </a:solidFill>
                </a:rPr>
                <a:t>Dataset scope</a:t>
              </a:r>
              <a:endParaRPr lang="en-US" sz="8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9F31ED-D495-20C1-BAAC-976C0310DED4}"/>
              </a:ext>
            </a:extLst>
          </p:cNvPr>
          <p:cNvGrpSpPr/>
          <p:nvPr/>
        </p:nvGrpSpPr>
        <p:grpSpPr>
          <a:xfrm>
            <a:off x="2511083" y="978911"/>
            <a:ext cx="1631852" cy="944698"/>
            <a:chOff x="2487168" y="1143000"/>
            <a:chExt cx="1920240" cy="1463040"/>
          </a:xfrm>
        </p:grpSpPr>
        <p:sp>
          <p:nvSpPr>
            <p:cNvPr id="9" name="Shape 7"/>
            <p:cNvSpPr/>
            <p:nvPr/>
          </p:nvSpPr>
          <p:spPr>
            <a:xfrm>
              <a:off x="2487168" y="1143000"/>
              <a:ext cx="192024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2487168" y="1143000"/>
              <a:ext cx="1920240" cy="64008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2487168" y="1280160"/>
              <a:ext cx="192024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1,796</a:t>
              </a:r>
              <a:endParaRPr lang="en-US" sz="2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487168" y="1938528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E293B"/>
                  </a:solidFill>
                </a:rPr>
                <a:t>Churned Customers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487168" y="224028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94A3B8"/>
                  </a:solidFill>
                </a:rPr>
                <a:t>Lost customers</a:t>
              </a:r>
              <a:endParaRPr lang="en-US" sz="8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CF333E-447B-C147-DA32-152C05F7A46F}"/>
              </a:ext>
            </a:extLst>
          </p:cNvPr>
          <p:cNvGrpSpPr/>
          <p:nvPr/>
        </p:nvGrpSpPr>
        <p:grpSpPr>
          <a:xfrm>
            <a:off x="4656405" y="978559"/>
            <a:ext cx="1631853" cy="945050"/>
            <a:chOff x="4608576" y="1143000"/>
            <a:chExt cx="1920240" cy="1463040"/>
          </a:xfrm>
        </p:grpSpPr>
        <p:sp>
          <p:nvSpPr>
            <p:cNvPr id="14" name="Shape 12"/>
            <p:cNvSpPr/>
            <p:nvPr/>
          </p:nvSpPr>
          <p:spPr>
            <a:xfrm>
              <a:off x="4608576" y="1143000"/>
              <a:ext cx="192024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4608576" y="1143000"/>
              <a:ext cx="1920240" cy="64008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608576" y="1280160"/>
              <a:ext cx="192024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26.86%</a:t>
              </a:r>
              <a:endParaRPr lang="en-US" sz="2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608576" y="1938528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E293B"/>
                  </a:solidFill>
                </a:rPr>
                <a:t>Overall Churn Rate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608576" y="224028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94A3B8"/>
                  </a:solidFill>
                </a:rPr>
                <a:t>Industry avg ~20%</a:t>
              </a:r>
              <a:endParaRPr lang="en-US" sz="8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E59F578-CF2D-147B-1363-6A232BA500E8}"/>
              </a:ext>
            </a:extLst>
          </p:cNvPr>
          <p:cNvGrpSpPr/>
          <p:nvPr/>
        </p:nvGrpSpPr>
        <p:grpSpPr>
          <a:xfrm>
            <a:off x="6801728" y="974532"/>
            <a:ext cx="1709225" cy="941534"/>
            <a:chOff x="6729984" y="1143000"/>
            <a:chExt cx="1920240" cy="1463040"/>
          </a:xfrm>
        </p:grpSpPr>
        <p:sp>
          <p:nvSpPr>
            <p:cNvPr id="19" name="Shape 17"/>
            <p:cNvSpPr/>
            <p:nvPr/>
          </p:nvSpPr>
          <p:spPr>
            <a:xfrm>
              <a:off x="6729984" y="1143000"/>
              <a:ext cx="192024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6729984" y="1143000"/>
              <a:ext cx="1920240" cy="64008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729984" y="1280160"/>
              <a:ext cx="192024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63.24%</a:t>
              </a:r>
              <a:endParaRPr lang="en-US" sz="2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729984" y="1938528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E293B"/>
                  </a:solidFill>
                </a:rPr>
                <a:t>CA Churn Rate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729984" y="224028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94A3B8"/>
                  </a:solidFill>
                </a:rPr>
                <a:t>Highest state</a:t>
              </a:r>
              <a:endParaRPr lang="en-US" sz="800" dirty="0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717A02AD-B016-DFD7-159A-BC46ACC6D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14" y="2057153"/>
            <a:ext cx="5747772" cy="285774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1E4D8C">
              <a:alpha val="18000"/>
            </a:srgbClr>
          </a:solidFill>
          <a:ln w="12700">
            <a:solidFill>
              <a:srgbClr val="1E4D8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743200" cy="27432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64592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03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Deep-Dive Analysis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Competition, Demographics, contracts, payments, plans &amp; service calls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Customers Leaving?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852160" y="1171135"/>
            <a:ext cx="2926080" cy="1188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188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~45%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852160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churned due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competitor reasons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2500884"/>
            <a:ext cx="2926080" cy="1188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11.30%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52160" y="30358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due to poor attitude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of support staff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840480"/>
            <a:ext cx="292608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8932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Implication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89320" y="41879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Pricing &amp; device upgrades are the fastest wins to stop competitor-driven churn.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2C63ADF-8FA4-C849-9398-F2142B8CD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839892" cy="3771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Group Plans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Key Insight:  </a:t>
            </a:r>
            <a:r>
              <a:rPr lang="en-US" sz="1100" dirty="0">
                <a:solidFill>
                  <a:srgbClr val="FFFFFF"/>
                </a:solidFill>
              </a:rPr>
              <a:t>Senior customers churn at 38.46% — 12pp above average. Customers outside group plans churn at 32.85%. Both segments need targeted retention strategies.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AAFDAA-4484-9FD9-A390-64F69CE35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00" y="959577"/>
            <a:ext cx="3465318" cy="26528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95EF82-518F-C1C3-D202-3AE6E90A1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782" y="982709"/>
            <a:ext cx="3465318" cy="26528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854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Contracts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317270" y="3794760"/>
            <a:ext cx="411480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3"/>
          <p:cNvSpPr/>
          <p:nvPr/>
        </p:nvSpPr>
        <p:spPr>
          <a:xfrm>
            <a:off x="548640" y="3840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Monthly contract customers have a churn rate of 46.29% and also have the lowest average account length.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663440" y="3794760"/>
            <a:ext cx="393192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846320" y="3840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Direct debit users churn at just 16.63% — paper check users at 43.70%. Payment method is a key loyalty signal.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52A17D-079D-95C6-6D05-F6E56203E9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94"/>
          <a:stretch>
            <a:fillRect/>
          </a:stretch>
        </p:blipFill>
        <p:spPr>
          <a:xfrm>
            <a:off x="4572000" y="1136073"/>
            <a:ext cx="4023360" cy="254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D03A96-618C-5780-5384-B35CC7D12C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7" b="-1"/>
          <a:stretch>
            <a:fillRect/>
          </a:stretch>
        </p:blipFill>
        <p:spPr>
          <a:xfrm>
            <a:off x="317269" y="1136073"/>
            <a:ext cx="4114800" cy="254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Plans &amp; Charges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26517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466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Churn Rate - Intl Active vs Intl Plan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833690"/>
              </p:ext>
            </p:extLst>
          </p:nvPr>
        </p:nvGraphicFramePr>
        <p:xfrm>
          <a:off x="502920" y="1918112"/>
          <a:ext cx="3657600" cy="10058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Intl Active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Plan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Has Plan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Active User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40.34%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7.59%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Not Active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4D8C"/>
                          </a:solidFill>
                        </a:rPr>
                        <a:t>20.01%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71.19%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5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3977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Critical Finding:  </a:t>
            </a:r>
            <a:r>
              <a:rPr lang="en-US" sz="1000" dirty="0">
                <a:solidFill>
                  <a:srgbClr val="FFFFFF"/>
                </a:solidFill>
              </a:rPr>
              <a:t>71% of customers are in the Low charge tier and churn at 30.98%.  Customers having an international plan with zero international usage represent the single highest-risk group at 71.19% churn.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85281E-1A3B-5B9C-559F-59607DA00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1" y="1093023"/>
            <a:ext cx="3931919" cy="26560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Data Plan &amp; Service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</a:t>
            </a:r>
          </a:p>
        </p:txBody>
      </p:sp>
      <p:sp>
        <p:nvSpPr>
          <p:cNvPr id="18" name="Shape 16"/>
          <p:cNvSpPr/>
          <p:nvPr/>
        </p:nvSpPr>
        <p:spPr>
          <a:xfrm>
            <a:off x="365760" y="3851564"/>
            <a:ext cx="3903611" cy="108619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971109"/>
            <a:ext cx="3434542" cy="752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Customers with an unlimited data plan and below 5GB of data usage have the highest churn rate of ~35%.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F9EE4E1-88B1-5CF8-6C5A-966B29A6E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72391"/>
            <a:ext cx="3903611" cy="249629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A3E4DFA-989C-F267-AA75-4099EC4D4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81" y="1172390"/>
            <a:ext cx="4038601" cy="24962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35" name="Shape 16">
            <a:extLst>
              <a:ext uri="{FF2B5EF4-FFF2-40B4-BE49-F238E27FC236}">
                <a16:creationId xmlns:a16="http://schemas.microsoft.com/office/drawing/2014/main" id="{7235340F-7F82-2A21-DE44-503AEEFA31E2}"/>
              </a:ext>
            </a:extLst>
          </p:cNvPr>
          <p:cNvSpPr/>
          <p:nvPr/>
        </p:nvSpPr>
        <p:spPr>
          <a:xfrm>
            <a:off x="4452251" y="3835234"/>
            <a:ext cx="4038601" cy="108619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68636DC7-8235-521E-F88A-DDBC7317ED7A}"/>
              </a:ext>
            </a:extLst>
          </p:cNvPr>
          <p:cNvSpPr/>
          <p:nvPr/>
        </p:nvSpPr>
        <p:spPr>
          <a:xfrm>
            <a:off x="4641273" y="3971108"/>
            <a:ext cx="3434542" cy="752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Customers without a device protection &amp; online backup plan have a higher churn rate.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182CB-08EE-4A27-007B-44E5105B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5B6B750-6B0D-6B97-8A62-2EE545122227}"/>
              </a:ext>
            </a:extLst>
          </p:cNvPr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as a Churn Predictor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ECA7A0D-1BC9-7C70-C264-832EC3749E5A}"/>
              </a:ext>
            </a:extLst>
          </p:cNvPr>
          <p:cNvGrpSpPr/>
          <p:nvPr/>
        </p:nvGrpSpPr>
        <p:grpSpPr>
          <a:xfrm>
            <a:off x="608907" y="960119"/>
            <a:ext cx="2342112" cy="900911"/>
            <a:chOff x="365760" y="1097280"/>
            <a:chExt cx="2560320" cy="114300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45B750C5-2B5E-92E3-BFAA-A9FF74C3E5FB}"/>
                </a:ext>
              </a:extLst>
            </p:cNvPr>
            <p:cNvSpPr/>
            <p:nvPr/>
          </p:nvSpPr>
          <p:spPr>
            <a:xfrm>
              <a:off x="365760" y="1097280"/>
              <a:ext cx="2560320" cy="1143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714DFA83-85F1-E177-AE8D-B54E44F14F05}"/>
                </a:ext>
              </a:extLst>
            </p:cNvPr>
            <p:cNvSpPr/>
            <p:nvPr/>
          </p:nvSpPr>
          <p:spPr>
            <a:xfrm>
              <a:off x="365760" y="1097280"/>
              <a:ext cx="2560320" cy="64008"/>
            </a:xfrm>
            <a:prstGeom prst="rect">
              <a:avLst/>
            </a:prstGeom>
            <a:solidFill>
              <a:srgbClr val="1E4D8C"/>
            </a:solidFill>
            <a:ln w="12700">
              <a:solidFill>
                <a:srgbClr val="1E4D8C"/>
              </a:solidFill>
              <a:prstDash val="solid"/>
            </a:ln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7A5CC80E-452C-12A2-FE16-691D3FAC39A1}"/>
                </a:ext>
              </a:extLst>
            </p:cNvPr>
            <p:cNvSpPr/>
            <p:nvPr/>
          </p:nvSpPr>
          <p:spPr>
            <a:xfrm>
              <a:off x="365760" y="1207008"/>
              <a:ext cx="2560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E4D8C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6,123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C41F7BA2-8770-33F1-FEEB-3653C6A56ABA}"/>
                </a:ext>
              </a:extLst>
            </p:cNvPr>
            <p:cNvSpPr/>
            <p:nvPr/>
          </p:nvSpPr>
          <p:spPr>
            <a:xfrm>
              <a:off x="365760" y="173736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47556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Total Service Calls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B8AAE6-72CF-FD48-6324-946E958EB013}"/>
              </a:ext>
            </a:extLst>
          </p:cNvPr>
          <p:cNvGrpSpPr/>
          <p:nvPr/>
        </p:nvGrpSpPr>
        <p:grpSpPr>
          <a:xfrm>
            <a:off x="3331325" y="957783"/>
            <a:ext cx="2342112" cy="897550"/>
            <a:chOff x="3200400" y="1097280"/>
            <a:chExt cx="2560320" cy="1143000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2E2086F9-3DF6-FD38-0D19-4650C6CC1253}"/>
                </a:ext>
              </a:extLst>
            </p:cNvPr>
            <p:cNvSpPr/>
            <p:nvPr/>
          </p:nvSpPr>
          <p:spPr>
            <a:xfrm>
              <a:off x="3200400" y="1097280"/>
              <a:ext cx="2560320" cy="1143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DF9E6600-B884-24E3-3A2D-9EF9A1D921A1}"/>
                </a:ext>
              </a:extLst>
            </p:cNvPr>
            <p:cNvSpPr/>
            <p:nvPr/>
          </p:nvSpPr>
          <p:spPr>
            <a:xfrm>
              <a:off x="3200400" y="1097280"/>
              <a:ext cx="2560320" cy="64008"/>
            </a:xfrm>
            <a:prstGeom prst="rect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9B9D4601-14EF-7432-C283-CB5F90B52C53}"/>
                </a:ext>
              </a:extLst>
            </p:cNvPr>
            <p:cNvSpPr/>
            <p:nvPr/>
          </p:nvSpPr>
          <p:spPr>
            <a:xfrm>
              <a:off x="3200400" y="1207008"/>
              <a:ext cx="2560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0.37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FD669082-619C-CA5B-303E-6AF4E49538A5}"/>
                </a:ext>
              </a:extLst>
            </p:cNvPr>
            <p:cNvSpPr/>
            <p:nvPr/>
          </p:nvSpPr>
          <p:spPr>
            <a:xfrm>
              <a:off x="3200400" y="173736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47556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Avg Calls (Non-Churned)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E3A0035-0826-80D3-19FE-81C292DEA193}"/>
              </a:ext>
            </a:extLst>
          </p:cNvPr>
          <p:cNvGrpSpPr/>
          <p:nvPr/>
        </p:nvGrpSpPr>
        <p:grpSpPr>
          <a:xfrm>
            <a:off x="6053743" y="963480"/>
            <a:ext cx="2342112" cy="886469"/>
            <a:chOff x="6035040" y="1097280"/>
            <a:chExt cx="2560320" cy="1143000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EF388B7F-049C-AB48-BACE-B9691B213CEC}"/>
                </a:ext>
              </a:extLst>
            </p:cNvPr>
            <p:cNvSpPr/>
            <p:nvPr/>
          </p:nvSpPr>
          <p:spPr>
            <a:xfrm>
              <a:off x="6035040" y="1097280"/>
              <a:ext cx="2560320" cy="1143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D3A721C0-7A82-65B6-B83C-D2C5524B0BAE}"/>
                </a:ext>
              </a:extLst>
            </p:cNvPr>
            <p:cNvSpPr/>
            <p:nvPr/>
          </p:nvSpPr>
          <p:spPr>
            <a:xfrm>
              <a:off x="6035040" y="1097280"/>
              <a:ext cx="2560320" cy="64008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56F3BCCA-3145-5B22-D1FB-DA2E44F2EC85}"/>
                </a:ext>
              </a:extLst>
            </p:cNvPr>
            <p:cNvSpPr/>
            <p:nvPr/>
          </p:nvSpPr>
          <p:spPr>
            <a:xfrm>
              <a:off x="6035040" y="1207008"/>
              <a:ext cx="2560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F444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2.4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A80C24DF-6DF2-5926-2110-B3A38ACB1026}"/>
                </a:ext>
              </a:extLst>
            </p:cNvPr>
            <p:cNvSpPr/>
            <p:nvPr/>
          </p:nvSpPr>
          <p:spPr>
            <a:xfrm>
              <a:off x="6035040" y="173736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47556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Avg Calls (Churned)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Shape 16">
            <a:extLst>
              <a:ext uri="{FF2B5EF4-FFF2-40B4-BE49-F238E27FC236}">
                <a16:creationId xmlns:a16="http://schemas.microsoft.com/office/drawing/2014/main" id="{B557AC23-5885-14C3-B364-9F0EB7A4120B}"/>
              </a:ext>
            </a:extLst>
          </p:cNvPr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7BF4C5B-7657-6832-C52B-7AD66FADFD54}"/>
              </a:ext>
            </a:extLst>
          </p:cNvPr>
          <p:cNvSpPr/>
          <p:nvPr/>
        </p:nvSpPr>
        <p:spPr>
          <a:xfrm>
            <a:off x="548640" y="43708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b="1" dirty="0">
                <a:solidFill>
                  <a:srgbClr val="14B8A6"/>
                </a:solidFill>
              </a:rPr>
              <a:t>Critical Finding: </a:t>
            </a:r>
            <a:r>
              <a:rPr lang="en-US" sz="1000" dirty="0">
                <a:solidFill>
                  <a:srgbClr val="FFFFFF"/>
                </a:solidFill>
              </a:rPr>
              <a:t>Churned customers made 2× more service calls than retained ones — unresolved issues are the #1 early warning signal of churn.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B90331C-C7D8-413F-4C06-B57159434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18" y="2026772"/>
            <a:ext cx="6627364" cy="20513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9575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1E4D8C">
              <a:alpha val="18000"/>
            </a:srgbClr>
          </a:solidFill>
          <a:ln w="12700">
            <a:solidFill>
              <a:srgbClr val="1E4D8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743200" cy="27432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64592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04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 strategic actions mapped directly to each finding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498080" y="182880"/>
            <a:ext cx="137160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0" y="182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 of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73152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11887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California Retention Programme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4630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Regional audit + targeted campaigns &amp; dedicated account managers for high-value CA customers.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9456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0352" y="25146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Strengthen Competitive Value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7889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Competitive benchmarking cycle + proactive loyalty upgrades with device offers &amp; price-matching.</a:t>
            </a:r>
            <a:endParaRPr lang="en-US" sz="9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9586B38-286A-86D3-2534-776DC8664617}"/>
              </a:ext>
            </a:extLst>
          </p:cNvPr>
          <p:cNvGrpSpPr/>
          <p:nvPr/>
        </p:nvGrpSpPr>
        <p:grpSpPr>
          <a:xfrm>
            <a:off x="4709160" y="2195945"/>
            <a:ext cx="4160520" cy="1188720"/>
            <a:chOff x="365760" y="3520440"/>
            <a:chExt cx="4160520" cy="1188720"/>
          </a:xfrm>
        </p:grpSpPr>
        <p:sp>
          <p:nvSpPr>
            <p:cNvPr id="15" name="Shape 13"/>
            <p:cNvSpPr/>
            <p:nvPr/>
          </p:nvSpPr>
          <p:spPr>
            <a:xfrm>
              <a:off x="365760" y="3520440"/>
              <a:ext cx="4160520" cy="1188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365760" y="3520440"/>
              <a:ext cx="73152" cy="1188720"/>
            </a:xfrm>
            <a:prstGeom prst="rect">
              <a:avLst/>
            </a:prstGeom>
            <a:solidFill>
              <a:srgbClr val="1E4D8C"/>
            </a:solidFill>
            <a:ln w="12700">
              <a:solidFill>
                <a:srgbClr val="1E4D8C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30352" y="3611880"/>
              <a:ext cx="914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1E4D8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 05</a:t>
              </a:r>
              <a:endParaRPr lang="en-US" sz="8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30352" y="3840480"/>
              <a:ext cx="3886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</a:rPr>
                <a:t>Convert Monthly to Long-Term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30352" y="4114800"/>
              <a:ext cx="3886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</a:rPr>
                <a:t>Incentive-based migration — discounted rates, bonus data or free add-ons for annual commitments.</a:t>
              </a:r>
              <a:endParaRPr lang="en-US" sz="9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00E5107-5DA3-F648-C1C2-E6CEF2C5F406}"/>
              </a:ext>
            </a:extLst>
          </p:cNvPr>
          <p:cNvGrpSpPr/>
          <p:nvPr/>
        </p:nvGrpSpPr>
        <p:grpSpPr>
          <a:xfrm>
            <a:off x="4709160" y="868680"/>
            <a:ext cx="4160520" cy="1188720"/>
            <a:chOff x="4754880" y="868680"/>
            <a:chExt cx="4160520" cy="1188720"/>
          </a:xfrm>
        </p:grpSpPr>
        <p:sp>
          <p:nvSpPr>
            <p:cNvPr id="20" name="Shape 18"/>
            <p:cNvSpPr/>
            <p:nvPr/>
          </p:nvSpPr>
          <p:spPr>
            <a:xfrm>
              <a:off x="4754880" y="868680"/>
              <a:ext cx="4160520" cy="1188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754880" y="868680"/>
              <a:ext cx="73152" cy="118872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919472" y="960120"/>
              <a:ext cx="914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 04</a:t>
              </a:r>
              <a:endParaRPr lang="en-US" sz="8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919472" y="1188720"/>
              <a:ext cx="3886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</a:rPr>
                <a:t>Drive Group Plan Adoption</a:t>
              </a: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919472" y="1463040"/>
              <a:ext cx="3886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</a:rPr>
                <a:t>Targeted campaigns to individual subscribers + referral incentives for existing group members.</a:t>
              </a:r>
              <a:endParaRPr lang="en-US" sz="9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CE71C58-9115-D82B-741F-EED196957D1C}"/>
              </a:ext>
            </a:extLst>
          </p:cNvPr>
          <p:cNvGrpSpPr/>
          <p:nvPr/>
        </p:nvGrpSpPr>
        <p:grpSpPr>
          <a:xfrm>
            <a:off x="365760" y="3538728"/>
            <a:ext cx="4160520" cy="1188720"/>
            <a:chOff x="4754880" y="2194560"/>
            <a:chExt cx="4160520" cy="1188720"/>
          </a:xfrm>
        </p:grpSpPr>
        <p:sp>
          <p:nvSpPr>
            <p:cNvPr id="25" name="Shape 23"/>
            <p:cNvSpPr/>
            <p:nvPr/>
          </p:nvSpPr>
          <p:spPr>
            <a:xfrm>
              <a:off x="4754880" y="2194560"/>
              <a:ext cx="4160520" cy="1188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4754880" y="2194560"/>
              <a:ext cx="73152" cy="1188720"/>
            </a:xfrm>
            <a:prstGeom prst="rect">
              <a:avLst/>
            </a:prstGeom>
            <a:solidFill>
              <a:srgbClr val="0A1628"/>
            </a:solidFill>
            <a:ln w="12700">
              <a:solidFill>
                <a:srgbClr val="0A1628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4919472" y="2286000"/>
              <a:ext cx="914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A162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 03</a:t>
              </a:r>
              <a:endParaRPr lang="en-US" sz="8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919472" y="2514600"/>
              <a:ext cx="3886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</a:rPr>
                <a:t>Senior Customer Strategy</a:t>
              </a:r>
              <a:endParaRPr lang="en-US" sz="11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919472" y="2788920"/>
              <a:ext cx="3886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</a:rPr>
                <a:t>Senior-specific plan with simplified pricing, priority support &amp; dedicated trained agents.</a:t>
              </a:r>
              <a:endParaRPr lang="en-US" sz="9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F3E8819-60A1-895A-398A-946F5CB40F13}"/>
              </a:ext>
            </a:extLst>
          </p:cNvPr>
          <p:cNvGrpSpPr/>
          <p:nvPr/>
        </p:nvGrpSpPr>
        <p:grpSpPr>
          <a:xfrm>
            <a:off x="4709160" y="3538728"/>
            <a:ext cx="4160520" cy="1188720"/>
            <a:chOff x="4754880" y="3520440"/>
            <a:chExt cx="4160520" cy="1188720"/>
          </a:xfrm>
        </p:grpSpPr>
        <p:sp>
          <p:nvSpPr>
            <p:cNvPr id="30" name="Shape 28"/>
            <p:cNvSpPr/>
            <p:nvPr/>
          </p:nvSpPr>
          <p:spPr>
            <a:xfrm>
              <a:off x="4754880" y="3520440"/>
              <a:ext cx="4160520" cy="1188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1" name="Shape 29"/>
            <p:cNvSpPr/>
            <p:nvPr/>
          </p:nvSpPr>
          <p:spPr>
            <a:xfrm>
              <a:off x="4754880" y="3520440"/>
              <a:ext cx="73152" cy="1188720"/>
            </a:xfrm>
            <a:prstGeom prst="rect">
              <a:avLst/>
            </a:prstGeom>
            <a:solidFill>
              <a:srgbClr val="14B8A6"/>
            </a:solidFill>
            <a:ln w="12700">
              <a:solidFill>
                <a:srgbClr val="14B8A6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919472" y="3611880"/>
              <a:ext cx="914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14B8A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 06</a:t>
              </a:r>
              <a:endParaRPr lang="en-US" sz="8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919472" y="3840480"/>
              <a:ext cx="3886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</a:rPr>
                <a:t>Migrate to Automated Payments</a:t>
              </a:r>
              <a:endParaRPr lang="en-US" sz="11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919472" y="4114800"/>
              <a:ext cx="3886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</a:rPr>
                <a:t>Bill credits or discounts to switch paper check users to direct debit — reduces interruptions &amp; churn.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498080" y="182880"/>
            <a:ext cx="137160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0" y="182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 of 2</a:t>
            </a:r>
            <a:endParaRPr lang="en-US" sz="11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78E4379-9E79-DC2C-E081-63876B2B143A}"/>
              </a:ext>
            </a:extLst>
          </p:cNvPr>
          <p:cNvGrpSpPr/>
          <p:nvPr/>
        </p:nvGrpSpPr>
        <p:grpSpPr>
          <a:xfrm>
            <a:off x="365760" y="1689977"/>
            <a:ext cx="8412480" cy="749808"/>
            <a:chOff x="365760" y="868680"/>
            <a:chExt cx="8412480" cy="749808"/>
          </a:xfrm>
        </p:grpSpPr>
        <p:sp>
          <p:nvSpPr>
            <p:cNvPr id="5" name="Shape 3"/>
            <p:cNvSpPr/>
            <p:nvPr/>
          </p:nvSpPr>
          <p:spPr>
            <a:xfrm>
              <a:off x="365760" y="868680"/>
              <a:ext cx="841248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365760" y="868680"/>
              <a:ext cx="73152" cy="749808"/>
            </a:xfrm>
            <a:prstGeom prst="rect">
              <a:avLst/>
            </a:prstGeom>
            <a:solidFill>
              <a:srgbClr val="1E4D8C"/>
            </a:solidFill>
            <a:ln w="12700">
              <a:solidFill>
                <a:srgbClr val="1E4D8C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548640" y="923544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1E4D8C"/>
                  </a:solidFill>
                </a:rPr>
                <a:t>REC 08</a:t>
              </a:r>
              <a:endParaRPr lang="en-US" sz="8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463040" y="914400"/>
              <a:ext cx="38404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</a:rPr>
                <a:t>Proactive Engagement: Low-Spend Customers</a:t>
              </a:r>
              <a:endParaRPr lang="en-US" sz="11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463040" y="1216152"/>
              <a:ext cx="7132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</a:rPr>
                <a:t>Structured onboarding journey + milestone-based rewards to build value before churn risk peaks.</a:t>
              </a:r>
              <a:endParaRPr lang="en-US" sz="9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AA5EDB3-E373-218C-9545-AC191EE17E48}"/>
              </a:ext>
            </a:extLst>
          </p:cNvPr>
          <p:cNvGrpSpPr/>
          <p:nvPr/>
        </p:nvGrpSpPr>
        <p:grpSpPr>
          <a:xfrm>
            <a:off x="365760" y="2551176"/>
            <a:ext cx="8412480" cy="749808"/>
            <a:chOff x="365760" y="1719072"/>
            <a:chExt cx="8412480" cy="749808"/>
          </a:xfrm>
        </p:grpSpPr>
        <p:sp>
          <p:nvSpPr>
            <p:cNvPr id="10" name="Shape 8"/>
            <p:cNvSpPr/>
            <p:nvPr/>
          </p:nvSpPr>
          <p:spPr>
            <a:xfrm>
              <a:off x="365760" y="1719072"/>
              <a:ext cx="841248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Shape 9"/>
            <p:cNvSpPr/>
            <p:nvPr/>
          </p:nvSpPr>
          <p:spPr>
            <a:xfrm>
              <a:off x="365760" y="1719072"/>
              <a:ext cx="73152" cy="749808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548640" y="1773936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F59E0B"/>
                  </a:solidFill>
                </a:rPr>
                <a:t>REC 09</a:t>
              </a:r>
              <a:endParaRPr lang="en-US" sz="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463040" y="1764792"/>
              <a:ext cx="38404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</a:rPr>
                <a:t>Re-evaluate Unlimited Plan Positioning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463040" y="2066544"/>
              <a:ext cx="7132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</a:rPr>
                <a:t>Usage-based segmentation — guide low-usage customers to better-fit plans; reposition for heavy users.</a:t>
              </a:r>
              <a:endParaRPr lang="en-US" sz="9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0300B2-57C5-8EA7-9509-572619B08B07}"/>
              </a:ext>
            </a:extLst>
          </p:cNvPr>
          <p:cNvGrpSpPr/>
          <p:nvPr/>
        </p:nvGrpSpPr>
        <p:grpSpPr>
          <a:xfrm>
            <a:off x="365760" y="804672"/>
            <a:ext cx="8412480" cy="749808"/>
            <a:chOff x="365760" y="2569464"/>
            <a:chExt cx="8412480" cy="749808"/>
          </a:xfrm>
        </p:grpSpPr>
        <p:sp>
          <p:nvSpPr>
            <p:cNvPr id="15" name="Shape 13"/>
            <p:cNvSpPr/>
            <p:nvPr/>
          </p:nvSpPr>
          <p:spPr>
            <a:xfrm>
              <a:off x="365760" y="2569464"/>
              <a:ext cx="841248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365760" y="2569464"/>
              <a:ext cx="73152" cy="749808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48640" y="2624328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EF4444"/>
                  </a:solidFill>
                </a:rPr>
                <a:t>REC 07</a:t>
              </a:r>
              <a:endParaRPr lang="en-US" sz="8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463040" y="2615184"/>
              <a:ext cx="38404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</a:rPr>
                <a:t>Optimise International Plans for Non-Users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463040" y="2916936"/>
              <a:ext cx="7132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</a:rPr>
                <a:t>Auto-trigger outreach after 60–90 days of zero Intl usage — offer downgrade or credit proactively.</a:t>
              </a:r>
              <a:endParaRPr lang="en-US" sz="9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3E8D75D-2535-BB11-2D10-8FC5573A5679}"/>
              </a:ext>
            </a:extLst>
          </p:cNvPr>
          <p:cNvGrpSpPr/>
          <p:nvPr/>
        </p:nvGrpSpPr>
        <p:grpSpPr>
          <a:xfrm>
            <a:off x="365760" y="3419856"/>
            <a:ext cx="8412480" cy="749808"/>
            <a:chOff x="365760" y="3419856"/>
            <a:chExt cx="8412480" cy="749808"/>
          </a:xfrm>
        </p:grpSpPr>
        <p:sp>
          <p:nvSpPr>
            <p:cNvPr id="20" name="Shape 18"/>
            <p:cNvSpPr/>
            <p:nvPr/>
          </p:nvSpPr>
          <p:spPr>
            <a:xfrm>
              <a:off x="365760" y="3419856"/>
              <a:ext cx="841248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365760" y="3419856"/>
              <a:ext cx="73152" cy="7498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48640" y="3474720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D9488"/>
                  </a:solidFill>
                </a:rPr>
                <a:t>REC 10</a:t>
              </a:r>
              <a:endParaRPr lang="en-US" sz="8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463040" y="3465576"/>
              <a:ext cx="38404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</a:rPr>
                <a:t>Bundle Add-on Services</a:t>
              </a: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463040" y="3767328"/>
              <a:ext cx="7132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</a:rPr>
                <a:t>Integrate device protection &amp; online backup into mid-tier plans + free trial campaign for existing customers.</a:t>
              </a:r>
              <a:endParaRPr lang="en-US" sz="9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9C4D02A-276B-7D51-0162-79481E44E82A}"/>
              </a:ext>
            </a:extLst>
          </p:cNvPr>
          <p:cNvGrpSpPr/>
          <p:nvPr/>
        </p:nvGrpSpPr>
        <p:grpSpPr>
          <a:xfrm>
            <a:off x="365760" y="4270248"/>
            <a:ext cx="8412480" cy="749808"/>
            <a:chOff x="365760" y="4270248"/>
            <a:chExt cx="8412480" cy="749808"/>
          </a:xfrm>
        </p:grpSpPr>
        <p:sp>
          <p:nvSpPr>
            <p:cNvPr id="25" name="Shape 23"/>
            <p:cNvSpPr/>
            <p:nvPr/>
          </p:nvSpPr>
          <p:spPr>
            <a:xfrm>
              <a:off x="365760" y="4270248"/>
              <a:ext cx="841248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365760" y="4270248"/>
              <a:ext cx="73152" cy="749808"/>
            </a:xfrm>
            <a:prstGeom prst="rect">
              <a:avLst/>
            </a:prstGeom>
            <a:solidFill>
              <a:srgbClr val="0A1628"/>
            </a:solidFill>
            <a:ln w="12700">
              <a:solidFill>
                <a:srgbClr val="0A1628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548640" y="4325112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A1628"/>
                  </a:solidFill>
                </a:rPr>
                <a:t>REC 11</a:t>
              </a:r>
              <a:endParaRPr lang="en-US" sz="8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463040" y="4315968"/>
              <a:ext cx="38404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</a:rPr>
                <a:t>Early Warning System — Service Calls</a:t>
              </a:r>
              <a:endParaRPr lang="en-US" sz="11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463040" y="4617720"/>
              <a:ext cx="7132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</a:rPr>
                <a:t>Flag customers with 3+ calls in 90 days; auto-escalate to senior retention specialist for outreach.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1E4D8C">
              <a:alpha val="18000"/>
            </a:srgbClr>
          </a:solidFill>
          <a:ln w="12700">
            <a:solidFill>
              <a:srgbClr val="1E4D8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743200" cy="27432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64592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05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Prioritised actions, ownership &amp; expected impact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Ownership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920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Immediate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(0–30 days)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Launch CA retention task force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Identify Intl plan non-users for outreach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Flag high service-call customers for escalation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87168" y="1097280"/>
            <a:ext cx="192024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87168" y="109728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11704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Short-term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(1–3 months)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78608" y="187452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Roll out monthly → annual contract incentive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Begin group plan adoption campaign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Pilot direct debit migration with bill credit offer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08576" y="1097280"/>
            <a:ext cx="192024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097280"/>
            <a:ext cx="1920240" cy="6400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1704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</a:rPr>
              <a:t>Medium-term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</a:rPr>
              <a:t>(3–6 months)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0016" y="187452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Launch senior customer dedicated plan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Integrate add-ons into standard mid-tier plan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Build churn risk scoring model on service call 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29984" y="1097280"/>
            <a:ext cx="192024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9984" y="109728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11704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Ongoing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21424" y="187452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Competitive benchmarking cycle (quarterly)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Monitor unlimited plan churn by usage cohort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Review low-spend customer engagement metrics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</a:rPr>
              <a:t>Owner: Product &amp; Commercial Strategy — in collaboration with Customer Experience, Marketing, and Technology teams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E4D8C">
              <a:alpha val="20000"/>
            </a:srgbClr>
          </a:solidFill>
          <a:ln w="12700">
            <a:solidFill>
              <a:srgbClr val="1E4D8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churn is not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fix —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system of signals,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responses, and relationships.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4572000" cy="0"/>
          </a:xfrm>
          <a:prstGeom prst="line">
            <a:avLst/>
          </a:prstGeom>
          <a:noFill/>
          <a:ln w="6350">
            <a:solidFill>
              <a:srgbClr val="1E4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Asiya Nizam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asiyanizam01@gmail.com  ·  linkedin.com/in/asiya-nizam-8a0387176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Data Source: DataCamp — Databel Fictional Dataset  ·  Tools: Power BI · Power Query · DAX · MS Excel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1081</Words>
  <Application>Microsoft Office PowerPoint</Application>
  <PresentationFormat>On-screen Show (16:9)</PresentationFormat>
  <Paragraphs>198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Databel Telecom — Customer Churn Analysis</dc:title>
  <dc:subject>PptxGenJS Presentation</dc:subject>
  <dc:creator>Asiya Nizam</dc:creator>
  <cp:lastModifiedBy>Asiya Nizam</cp:lastModifiedBy>
  <cp:revision>51</cp:revision>
  <dcterms:created xsi:type="dcterms:W3CDTF">2026-05-02T22:00:35Z</dcterms:created>
  <dcterms:modified xsi:type="dcterms:W3CDTF">2026-05-14T02:10:29Z</dcterms:modified>
</cp:coreProperties>
</file>